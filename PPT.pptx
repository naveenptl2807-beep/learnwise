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JetBrains Mono"/>
      <ns0:bold ns1:id="rIdFont17"/>
      <ns0:regular ns1:id="rIdFont18"/>
    </ns0:embeddedFont>
    <ns0:embeddedFont>
      <ns0:font typeface="Inter"/>
      <ns0:bold ns1:id="rIdFont19"/>
      <ns0:regular ns1:id="rIdFont20"/>
    </ns0:embeddedFont>
    <ns0:embeddedFont>
      <ns0:font typeface="Space Grotesk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a20c03d3-454a-4460-a317-e9f5dc4e7b83.fntdata" /><ns0:Relationship Id="rIdFont18" Type="http://schemas.openxmlformats.org/officeDocument/2006/relationships/font" Target="fonts/8dfba911-5c83-45f6-af19-ad4a4a35df25.fntdata" /><ns0:Relationship Id="rIdFont19" Type="http://schemas.openxmlformats.org/officeDocument/2006/relationships/font" Target="fonts/9b4742f1-fcc6-4b75-b956-bcb0c5e1d000.fntdata" /><ns0:Relationship Id="rIdFont20" Type="http://schemas.openxmlformats.org/officeDocument/2006/relationships/font" Target="fonts/19e0cfe1-563b-4c93-9f88-e64bdd73f9f3.fntdata" /><ns0:Relationship Id="rIdFont21" Type="http://schemas.openxmlformats.org/officeDocument/2006/relationships/font" Target="fonts/c5f4f536-696b-4a9a-bee1-8db058580d9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503390"/>
            <a:ext cx="10668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706909"/>
            <a:ext cx="2019300" cy="285750"/>
          </a:xfrm>
          <a:prstGeom prst="roundRect">
            <a:avLst>
              <a:gd name="adj" fmla="val 13333"/>
            </a:avLst>
          </a:prstGeom>
          <a:solidFill>
            <a:srgbClr val="0F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503390"/>
            <a:ext cx="1066800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62250" y="4812952"/>
            <a:ext cx="9525" cy="304800"/>
          </a:xfrm>
          <a:prstGeom prst="rect">
            <a:avLst/>
          </a:prstGeom>
          <a:solidFill>
            <a:srgbClr val="94A3B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48275" y="4812952"/>
            <a:ext cx="9525" cy="304800"/>
          </a:xfrm>
          <a:prstGeom prst="rect">
            <a:avLst/>
          </a:prstGeom>
          <a:solidFill>
            <a:srgbClr val="94A3B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00975" y="4812952"/>
            <a:ext cx="9525" cy="304800"/>
          </a:xfrm>
          <a:prstGeom prst="rect">
            <a:avLst/>
          </a:prstGeom>
          <a:solidFill>
            <a:srgbClr val="94A3B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183159"/>
            <a:ext cx="99012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AI-Based Personalized Learning Content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12790"/>
            <a:ext cx="7524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An adaptive pedagogical engine pairing Google Gemini structured schema decoding with zero-client-trust server-side evaluation.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1764059"/>
            <a:ext cx="18478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MAJOR PROJECT VIVA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5600" y="1764059"/>
            <a:ext cx="3429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System Architecture &amp;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779615"/>
            <a:ext cx="20716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Inter"/>
              </a:rPr>
              <a:t>AI &amp; PERSONALIZATION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960590"/>
            <a:ext cx="207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Naveen (You)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4675" y="4779615"/>
            <a:ext cx="22383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Inter"/>
              </a:rPr>
              <a:t>BACKEND DEVELOPMENT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4675" y="4960590"/>
            <a:ext cx="2238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Rounak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0700" y="4779615"/>
            <a:ext cx="23217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Inter"/>
              </a:rPr>
              <a:t>FRONTEND DEVELOPMENT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700" y="4960590"/>
            <a:ext cx="2321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Junaid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3400" y="4779615"/>
            <a:ext cx="20835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Inter"/>
              </a:rPr>
              <a:t>PRESENTATION &amp; DOCS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400" y="4960590"/>
            <a:ext cx="2083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Varun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8450"/>
            <a:ext cx="3505200" cy="211455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38450"/>
            <a:ext cx="3505200" cy="211455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38450"/>
            <a:ext cx="3505200" cy="211455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838450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838450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83845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81350"/>
            <a:ext cx="28956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181350"/>
            <a:ext cx="28956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181350"/>
            <a:ext cx="28956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MOTIVATION &amp; PROBLEM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Why Static Learning Platforms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00450"/>
            <a:ext cx="38004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Static One-Size-Fits-All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62400"/>
            <a:ext cx="2990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Beginners overwhelmed by dense jargon while advanced students encounter repetitive summaries.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600450"/>
            <a:ext cx="38004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Unpredictable LLM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962400"/>
            <a:ext cx="2990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Raw generative models hallucinate schema shapes and return fluctuating question counts that crash web apps.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3600450"/>
            <a:ext cx="38004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Client-Side Answer Leaks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962400"/>
            <a:ext cx="2990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Browser-graded quizzes expose answer keys in inspect tools, nullifying genuine adaptive assessment.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9067"/>
            <a:ext cx="2600325" cy="2195066"/>
          </a:xfrm>
          <a:prstGeom prst="roundRect">
            <a:avLst>
              <a:gd name="adj" fmla="val 433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779067"/>
            <a:ext cx="2600325" cy="2195066"/>
          </a:xfrm>
          <a:prstGeom prst="roundRect">
            <a:avLst>
              <a:gd name="adj" fmla="val 433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869108"/>
            <a:ext cx="2600325" cy="2015132"/>
          </a:xfrm>
          <a:prstGeom prst="roundRect">
            <a:avLst>
              <a:gd name="adj" fmla="val 472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869108"/>
            <a:ext cx="2600325" cy="2015132"/>
          </a:xfrm>
          <a:prstGeom prst="roundRect">
            <a:avLst>
              <a:gd name="adj" fmla="val 472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2430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012430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3102471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0675" y="3102471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631555"/>
            <a:ext cx="1143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887688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323754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579887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025" y="3631555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025" y="3887688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025" y="4143821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025" y="4579887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3721596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3977729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4233862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4489995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0675" y="3721596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0675" y="3977729"/>
            <a:ext cx="11430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0675" y="4233862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0675" y="4489995"/>
            <a:ext cx="114300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PROJECT OWNERSHIP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Engineering Division &amp; 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41042"/>
            <a:ext cx="2678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JetBrains Mono"/>
              </a:rPr>
              <a:t>AI &amp; Personalization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9025" y="3341042"/>
            <a:ext cx="2678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47857"/>
                </a:solidFill>
                <a:latin typeface="JetBrains Mono"/>
              </a:rPr>
              <a:t>Backend 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850" y="3431083"/>
            <a:ext cx="2678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JetBrains Mono"/>
              </a:rPr>
              <a:t>Frontend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0675" y="3431083"/>
            <a:ext cx="2678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D28D9"/>
                </a:solidFill>
                <a:latin typeface="JetBrains Mono"/>
              </a:rPr>
              <a:t>Docs &amp;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007667"/>
            <a:ext cx="137704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Naveen (You)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17267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Gemini API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73400"/>
            <a:ext cx="2238375" cy="359866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Level guidelines &amp; prompt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309467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Pydantic v2 schemas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565600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12 MCQ exact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3825" y="3007667"/>
            <a:ext cx="91855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Rounak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29025" y="3617267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FastAPI REST endpoints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29025" y="3873400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Server-side grading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29025" y="4129533"/>
            <a:ext cx="2238375" cy="359866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Async SQLAlchemy persistence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29025" y="4565600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Safe PDF text extraction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1800" y="3097708"/>
            <a:ext cx="85854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Junaid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850" y="3707308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React / Vite interactive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850" y="3963441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Topic &amp; tier selection controls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850" y="4219575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Dynamic quiz render views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850" y="4475708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Progress chart visualizer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86900" y="3097708"/>
            <a:ext cx="77212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Varun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0675" y="3707308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Technical working docs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0675" y="3963441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Architecture flowcharts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0675" y="4219575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Viva defense guide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0675" y="4475708"/>
            <a:ext cx="2678906" cy="179933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Test results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23319"/>
            <a:ext cx="2386012" cy="1344810"/>
          </a:xfrm>
          <a:prstGeom prst="roundRect">
            <a:avLst>
              <a:gd name="adj" fmla="val 70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1862" y="3130004"/>
            <a:ext cx="2386012" cy="1531441"/>
          </a:xfrm>
          <a:prstGeom prst="roundRect">
            <a:avLst>
              <a:gd name="adj" fmla="val 6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4125" y="3130004"/>
            <a:ext cx="2386012" cy="1531441"/>
          </a:xfrm>
          <a:prstGeom prst="roundRect">
            <a:avLst>
              <a:gd name="adj" fmla="val 6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96387" y="3223319"/>
            <a:ext cx="2386012" cy="1344810"/>
          </a:xfrm>
          <a:prstGeom prst="roundRect">
            <a:avLst>
              <a:gd name="adj" fmla="val 70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800475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800475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537" y="3800475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SYSTEM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Decoupled End-to-End Execution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379" y="3461444"/>
            <a:ext cx="248245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JetBrains Mono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318" y="3690044"/>
            <a:ext cx="26065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Client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379" y="3956744"/>
            <a:ext cx="2482453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Junaid's React UI sends topic and requested tier to FastAPI.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3642" y="3368129"/>
            <a:ext cx="248245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JetBrains Mono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1580" y="3596729"/>
            <a:ext cx="26065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AI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3642" y="3863429"/>
            <a:ext cx="2482453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Naveen's engine builds pedagogical prompts and calls Gemini.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5904" y="3368129"/>
            <a:ext cx="248245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JetBrains Mono"/>
              </a:rP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843" y="3596729"/>
            <a:ext cx="26065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Schema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5904" y="3863429"/>
            <a:ext cx="2482453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Pydantic validates 12 MCQs, distinct options, and answer match.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8167" y="3461444"/>
            <a:ext cx="248245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JetBrains Mono"/>
              </a:rPr>
              <a:t>STAGE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6105" y="3690044"/>
            <a:ext cx="26065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Safe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167" y="3956744"/>
            <a:ext cx="2482453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Rounak's backend strips keys and saves lesson to SQLite.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9153"/>
            <a:ext cx="5600700" cy="2292994"/>
          </a:xfrm>
          <a:prstGeom prst="roundRect">
            <a:avLst>
              <a:gd name="adj" fmla="val 498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5100" y="2743200"/>
            <a:ext cx="50673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5100" y="3562350"/>
            <a:ext cx="50673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15100" y="4381500"/>
            <a:ext cx="50673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15100" y="2743200"/>
            <a:ext cx="38100" cy="666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15100" y="3562350"/>
            <a:ext cx="38100" cy="6667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5100" y="4381500"/>
            <a:ext cx="38100" cy="6667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AI SUBSYSTEM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Strict Contract Enforcement with 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015853"/>
            <a:ext cx="6334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// GeminiService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282553"/>
            <a:ext cx="5162550" cy="1492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E2E8F0"/>
                </a:solidFill>
                <a:latin typeface="JetBrains Mono"/>
              </a:rPr>
              <a:t>config = types.GenerateContentConfig(</a:t>
            </a:r>
            <a:r>
              <a:t>
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   response_mime_type="application/json",</a:t>
            </a:r>
            <a:r>
              <a:t>
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   response_schema=LearningModule,</a:t>
            </a:r>
            <a:r>
              <a:t>
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   temperature=0.3</a:t>
            </a:r>
            <a:r>
              <a:t>
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 )</a:t>
            </a:r>
            <a:r>
              <a:t>
</a:t>
            </a:r>
            <a:r>
              <a:rPr b="0" sz="1050" i="0" u="none">
                <a:solidFill>
                  <a:srgbClr val="94A3B8"/>
                </a:solidFill>
                <a:latin typeface="JetBrains Mono"/>
              </a:rPr>
              <a:t># Pydantic schema injected directly</a:t>
            </a:r>
            <a:r>
              <a:t>
</a:t>
            </a:r>
            <a:r>
              <a:rPr b="0" sz="1050" i="0" u="none">
                <a:solidFill>
                  <a:srgbClr val="94A3B8"/>
                </a:solidFill>
                <a:latin typeface="JetBrains Mono"/>
              </a:rPr>
              <a:t># into token decoder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2743200"/>
            <a:ext cx="5467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Exactly 12 MCQs Guaranteed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3000375"/>
            <a:ext cx="49530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11 or 13 questions immediately raise a Pydantic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ValidationError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at runtime before serving.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3562350"/>
            <a:ext cx="5467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Unique 4-Option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3819525"/>
            <a:ext cx="49530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Model validator verifies that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len(set(options)) == 4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, strictly preventing duplicate distractors.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4381500"/>
            <a:ext cx="5467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OpenAPI 3.0 Compatibility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638675"/>
            <a:ext cx="49530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Custom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_strip_additional_properties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prevents Google's schema parser from throwing 400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69381"/>
            <a:ext cx="3505200" cy="2452687"/>
          </a:xfrm>
          <a:prstGeom prst="roundRect">
            <a:avLst>
              <a:gd name="adj" fmla="val 46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69381"/>
            <a:ext cx="3505200" cy="2452687"/>
          </a:xfrm>
          <a:prstGeom prst="roundRect">
            <a:avLst>
              <a:gd name="adj" fmla="val 46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69381"/>
            <a:ext cx="3505200" cy="2452687"/>
          </a:xfrm>
          <a:prstGeom prst="roundRect">
            <a:avLst>
              <a:gd name="adj" fmla="val 46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2974181"/>
            <a:ext cx="647700" cy="238125"/>
          </a:xfrm>
          <a:prstGeom prst="roundRect">
            <a:avLst>
              <a:gd name="adj" fmla="val 16000"/>
            </a:avLst>
          </a:prstGeom>
          <a:solidFill>
            <a:srgbClr val="DF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81525" y="2974181"/>
            <a:ext cx="647700" cy="238125"/>
          </a:xfrm>
          <a:prstGeom prst="roundRect">
            <a:avLst>
              <a:gd name="adj" fmla="val 16000"/>
            </a:avLst>
          </a:prstGeom>
          <a:solidFill>
            <a:srgbClr val="E1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15325" y="2974181"/>
            <a:ext cx="647700" cy="238125"/>
          </a:xfrm>
          <a:prstGeom prst="roundRect">
            <a:avLst>
              <a:gd name="adj" fmla="val 16000"/>
            </a:avLst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PEDAGOGICAL PERSONALIZATION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Content Tiering by Competency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3012281"/>
            <a:ext cx="552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TIER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326606"/>
            <a:ext cx="39754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Beginner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88556"/>
            <a:ext cx="31242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Intuitive analogies, fundamental terminology, and foundational concepts without prerequisites.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483893"/>
            <a:ext cx="3124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Example: "Variables as named storage boxes in computer memory."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6775" y="3012281"/>
            <a:ext cx="552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TIER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326606"/>
            <a:ext cx="39754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Intermediate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688556"/>
            <a:ext cx="31242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Underlying architectural mechanisms, precise technical terminology, and practical code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4483893"/>
            <a:ext cx="3124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Example: "Stack vs. Heap allocations, reference counting cycles."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0575" y="3012281"/>
            <a:ext cx="552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TIER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326606"/>
            <a:ext cx="38766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Advanced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3688556"/>
            <a:ext cx="31242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Internal runtime structures, edge-case failure modes, architectural trade-offs, and latency optimization.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4483893"/>
            <a:ext cx="3124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Example: "CPython PyMalloc arenas, pools, and GIL thread contention."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62650" y="2581275"/>
            <a:ext cx="5619750" cy="2628900"/>
          </a:xfrm>
          <a:prstGeom prst="roundRect">
            <a:avLst>
              <a:gd name="adj" fmla="val 43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88058"/>
            <a:ext cx="5010150" cy="1097160"/>
          </a:xfrm>
          <a:prstGeom prst="roundRect">
            <a:avLst>
              <a:gd name="adj" fmla="val 86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337619"/>
            <a:ext cx="5010150" cy="1106685"/>
          </a:xfrm>
          <a:prstGeom prst="roundRect">
            <a:avLst>
              <a:gd name="adj" fmla="val 86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96705"/>
            <a:ext cx="5010150" cy="1106685"/>
          </a:xfrm>
          <a:prstGeom prst="roundRect">
            <a:avLst>
              <a:gd name="adj" fmla="val 86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7450" y="3876675"/>
            <a:ext cx="5010150" cy="47625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088058"/>
            <a:ext cx="38100" cy="10971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337619"/>
            <a:ext cx="38100" cy="110668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596705"/>
            <a:ext cx="38100" cy="110668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2886075"/>
            <a:ext cx="40005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SECURITY &amp;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Zero-Client-Trust Evaluation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7115" y="3495675"/>
            <a:ext cx="655081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Space Grotesk"/>
              </a:rPr>
              <a:t>Auditable Scoring 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5481" y="3990975"/>
            <a:ext cx="603408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369A1"/>
                </a:solidFill>
                <a:latin typeface="JetBrains Mono"/>
              </a:rPr>
              <a:t>score = round((correct / total) * 100,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181" y="4505325"/>
            <a:ext cx="62626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Evaluated purely in Python backend runtime without LLM token cost, latency, or grading hallucinations.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2316658"/>
            <a:ext cx="592574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1. Client Withholding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2583358"/>
            <a:ext cx="46101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Correct answer keys and explanations are stripped before transmitting session data to the browser.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566219"/>
            <a:ext cx="592574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2. Server-Side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3832919"/>
            <a:ext cx="4610100" cy="3827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Backend matches submitted indices against stored 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session.quiz_data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inside an isolated transaction.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4825305"/>
            <a:ext cx="592574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3. Anti-Replay Guard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5092005"/>
            <a:ext cx="4610100" cy="3827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Session flags as 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is_completed = True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immediately; duplicate submissions return HTTP 400 Bad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47900"/>
            <a:ext cx="10972800" cy="32575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247900"/>
          <a:ext cx="10963273" cy="32575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76735"/>
                <a:gridCol w="2447478"/>
                <a:gridCol w="1969591"/>
                <a:gridCol w="4569469"/>
              </a:tblGrid>
              <a:tr h="46536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Current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Quiz Score (%)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Next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Transition State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Beginner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EF4444"/>
                          </a:solidFill>
                          <a:latin typeface="Inter"/>
                        </a:rPr>
                        <a:t>&lt; 50.0%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Beginner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Retained (Clamped at floor)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Beginner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≥ 80.0%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Inter"/>
                        </a:rPr>
                        <a:t>Intermediate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Promoted (+1 Tier)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Intermediate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EF4444"/>
                          </a:solidFill>
                          <a:latin typeface="Inter"/>
                        </a:rPr>
                        <a:t>&lt; 50.0%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EF4444"/>
                          </a:solidFill>
                          <a:latin typeface="Inter"/>
                        </a:rPr>
                        <a:t>Beginner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EF4444"/>
                          </a:solidFill>
                          <a:latin typeface="Inter"/>
                        </a:rPr>
                        <a:t>Demoted for Reinforcement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Intermediate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50.0% – 79.99%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Intermediate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Retained (Adequate comprehension)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536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Intermediate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≥ 80.0%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Inter"/>
                        </a:rPr>
                        <a:t>Advanced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Promoted (+1 Tier)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536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Advanced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≥ 80.0%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Advanced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Retained (Clamped at ceiling)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ADAPTIVE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The Deterministic 80 / 50 Progression Rule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86225"/>
            <a:ext cx="10972800" cy="828675"/>
          </a:xfrm>
          <a:prstGeom prst="roundRect">
            <a:avLst>
              <a:gd name="adj" fmla="val 114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60800" y="2976562"/>
            <a:ext cx="9525" cy="666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1525" y="2976562"/>
            <a:ext cx="9525" cy="666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VERIFICATION &amp; QUALITY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171 Automated Tests Passing Cleanly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286250"/>
            <a:ext cx="1059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Rigorous Scenarios Covered: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Score boundaries (49%, 50%, 79%, 80%), NaN/Infinity and boolean guards, corrupted PDF byte rejection, secret credential redaction in exception strings (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[REDACTED]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), and offline mock provider parity.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199" y="2876550"/>
            <a:ext cx="4564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JetBrains Mono"/>
              </a:rP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199" y="3562350"/>
            <a:ext cx="4564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AI Module Unit Tests (100% Pass in 0.056s)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925" y="2876550"/>
            <a:ext cx="4564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JetBrains Mono"/>
              </a:rPr>
              <a:t>122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925" y="3562350"/>
            <a:ext cx="4564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FastAPI Backend &amp; Integration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4650" y="2876550"/>
            <a:ext cx="4564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8B5CF6"/>
                </a:solidFill>
                <a:latin typeface="JetBrains Mono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4650" y="3562350"/>
            <a:ext cx="4564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Regressions, Leaks, or Schema Failures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7175" y="4524077"/>
            <a:ext cx="4057650" cy="438150"/>
          </a:xfrm>
          <a:prstGeom prst="roundRect">
            <a:avLst>
              <a:gd name="adj" fmla="val 50000"/>
            </a:avLst>
          </a:prstGeom>
          <a:solidFill>
            <a:srgbClr val="0E1F2D"/>
          </a:solidFill>
          <a:ln w="9525">
            <a:solidFill>
              <a:srgbClr val="153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657427"/>
            <a:ext cx="219075" cy="17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3500" y="1895623"/>
            <a:ext cx="952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JetBrains Mono"/>
              </a:rPr>
              <a:t>CONCLUSION &amp; VIVA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2219473"/>
            <a:ext cx="10001250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985194"/>
            <a:ext cx="9525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38BDF8"/>
                </a:solidFill>
                <a:latin typeface="Inter"/>
              </a:rPr>
              <a:t>Reliable, Scalable, &amp; Adaptive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404294"/>
            <a:ext cx="95250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By marrying generative LLM capability with strict Pydantic schemas, zero-client-trust evaluation, and rule-based progression, we transformed unpredictable AI into a production-grade educational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0296" y="4647902"/>
            <a:ext cx="3964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1F5F9"/>
                </a:solidFill>
                <a:latin typeface="Inter"/>
              </a:rPr>
              <a:t>Open for Questions &amp; Technical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